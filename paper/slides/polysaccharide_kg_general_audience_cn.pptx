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把多糖研究整理成一张“地图”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DoLPHiN 多糖知识图谱：从零散资料到可解释检索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657600" cy="329184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一句话概括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我们把天然多糖的来源、结构、功能和文献证据连成图，帮助研究者更快找到“可能有什么健康作用”。</a:t>
            </a:r>
          </a:p>
        </p:txBody>
      </p:sp>
      <p:pic>
        <p:nvPicPr>
          <p:cNvPr id="8" name="Picture 7" descr="figure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5880"/>
            <a:ext cx="704088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5138928"/>
            <a:ext cx="36576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今天只记住三点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资料变地图；检索比盲目深度学习更稳；本体知识能帮一部分长尾功能。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多糖是什么？为什么值得整理？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很多天然产物的健康作用，都和复杂多糖有关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00400" cy="3566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生活中的多糖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蘑菇多糖、海藻多糖、植物胶、多糖膳食纤维……它们常被研究免疫、抗氧化、代谢、凝血等作用。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00400" cy="3566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难点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多糖不是一个小分子。它的来源、单糖组成、糖苷键、分支结构都会影响功能。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200400" cy="3566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机会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如果把这些信息连起来，就可能更系统地发现“结构—功能”的线索。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问题不只是“数据少”，而是“证据太散”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同一条功能线索，常常分散在不同字段和不同论文中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377440" cy="356616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来源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来自哪种蘑菇、海藻或植物？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377440" cy="356616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结构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由哪些单糖组成？有哪些糖苷键？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377440" cy="356616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功能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免疫、抗氧化、抗凝、成骨……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377440" cy="356616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E3B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3B448"/>
                </a:solidFill>
                <a:latin typeface="Microsoft YaHei"/>
              </a:defRPr>
            </a:pPr>
            <a:r>
              <a:t>文献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证据来自哪篇论文？能不能追溯？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5303520"/>
            <a:ext cx="6812280" cy="0"/>
          </a:xfrm>
          <a:prstGeom prst="line">
            <a:avLst/>
          </a:prstGeom>
          <a:ln w="2794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40480" y="5532120"/>
            <a:ext cx="466344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目标：把分散证据连成一张可用的知识地图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知识图谱：把表格变成“关系网络”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不是只存一行记录，而是存“谁和谁有关”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926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多糖 A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来自某种真菌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80160"/>
            <a:ext cx="2926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结构线索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葡萄糖、半乳糖、糖苷键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280160"/>
            <a:ext cx="2926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健康功能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免疫调节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1783080"/>
            <a:ext cx="960120" cy="0"/>
          </a:xfrm>
          <a:prstGeom prst="line">
            <a:avLst/>
          </a:prstGeom>
          <a:ln w="27940">
            <a:solidFill>
              <a:srgbClr val="3A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3800" y="1783080"/>
            <a:ext cx="914400" cy="0"/>
          </a:xfrm>
          <a:prstGeom prst="line">
            <a:avLst/>
          </a:prstGeom>
          <a:ln w="27940">
            <a:solidFill>
              <a:srgbClr val="3A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" y="2880360"/>
            <a:ext cx="99669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8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64592" tIns="164592"/>
          <a:lstStyle/>
          <a:p>
            <a:pPr algn="ctr"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节点：多糖、来源生物、单糖、糖苷键、功能、疾病、论文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边：来自哪里、含有什么、与什么功能相关、由哪篇论文支持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好处：每个预测都可以追溯到图上的证据链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我们从 DoLPHiN 构建了一个多糖知识图谱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规模不大，但足够做可控评测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A6B35"/>
                </a:solidFill>
                <a:latin typeface="Arial"/>
              </a:defRPr>
            </a:pPr>
            <a:r>
              <a:t>5,078</a:t>
            </a:r>
          </a:p>
          <a:p>
            <a:pPr algn="ctr">
              <a:defRPr sz="1100">
                <a:solidFill>
                  <a:srgbClr val="667C6F"/>
                </a:solidFill>
                <a:latin typeface="Microsoft YaHei"/>
              </a:defRPr>
            </a:pPr>
            <a:r>
              <a:t>多糖节点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17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07A5F"/>
                </a:solidFill>
                <a:latin typeface="Arial"/>
              </a:defRPr>
            </a:pPr>
            <a:r>
              <a:t>1,487</a:t>
            </a:r>
          </a:p>
          <a:p>
            <a:pPr algn="ctr">
              <a:defRPr sz="1100">
                <a:solidFill>
                  <a:srgbClr val="667C6F"/>
                </a:solidFill>
                <a:latin typeface="Microsoft YaHei"/>
              </a:defRPr>
            </a:pPr>
            <a:r>
              <a:t>来源生物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417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F6F9F"/>
                </a:solidFill>
                <a:latin typeface="Arial"/>
              </a:defRPr>
            </a:pPr>
            <a:r>
              <a:t>23</a:t>
            </a:r>
          </a:p>
          <a:p>
            <a:pPr algn="ctr">
              <a:defRPr sz="1100">
                <a:solidFill>
                  <a:srgbClr val="667C6F"/>
                </a:solidFill>
                <a:latin typeface="Microsoft YaHei"/>
              </a:defRPr>
            </a:pPr>
            <a:r>
              <a:t>单糖类型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17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3B448"/>
                </a:solidFill>
                <a:latin typeface="Arial"/>
              </a:defRPr>
            </a:pPr>
            <a:r>
              <a:t>323</a:t>
            </a:r>
          </a:p>
          <a:p>
            <a:pPr algn="ctr">
              <a:defRPr sz="1100">
                <a:solidFill>
                  <a:srgbClr val="667C6F"/>
                </a:solidFill>
                <a:latin typeface="Microsoft YaHei"/>
              </a:defRPr>
            </a:pPr>
            <a:r>
              <a:t>糖苷键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417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A6B35"/>
                </a:solidFill>
                <a:latin typeface="Arial"/>
              </a:defRPr>
            </a:pPr>
            <a:r>
              <a:t>66</a:t>
            </a:r>
          </a:p>
          <a:p>
            <a:pPr algn="ctr">
              <a:defRPr sz="1100">
                <a:solidFill>
                  <a:srgbClr val="667C6F"/>
                </a:solidFill>
                <a:latin typeface="Microsoft YaHei"/>
              </a:defRPr>
            </a:pPr>
            <a:r>
              <a:t>功能标签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886200"/>
            <a:ext cx="98755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这张图的价值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它把“结构、来源、功能、疾病、文献”统一到一个可查询、可评测、可追溯的框架里。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怎么判断这张图有没有用？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把已知功能暂时遮住，看模型能不能找回来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017520" cy="329184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1. 遮住答案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把一条已知“多糖—功能”关系临时隐藏。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017520" cy="329184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2. 让模型排序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在 66 个功能里，看哪个功能最像正确答案。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371600"/>
            <a:ext cx="3017520" cy="329184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3. 看能否找回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如果正确功能排进前 3，就说明图谱证据有帮助。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971800"/>
            <a:ext cx="731520" cy="0"/>
          </a:xfrm>
          <a:prstGeom prst="line">
            <a:avLst/>
          </a:prstGeom>
          <a:ln w="27940">
            <a:solidFill>
              <a:srgbClr val="3A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35240" y="2971800"/>
            <a:ext cx="731520" cy="0"/>
          </a:xfrm>
          <a:prstGeom prst="line">
            <a:avLst/>
          </a:prstGeom>
          <a:ln w="27940">
            <a:solidFill>
              <a:srgbClr val="3A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第一个发现：简单、可解释的方法反而最稳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当前图谱上，显式关系特征比直接 GNN 消息传递更有效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7" name="Picture 6" descr="figure2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0432"/>
            <a:ext cx="69494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417320"/>
            <a:ext cx="34747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最强 clean 基线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Meta-path + Logistic Regression</a:t>
            </a:r>
            <a:br/>
            <a:r>
              <a:t>macro-F1 = 0.3465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880360"/>
            <a:ext cx="34747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GNN 当前较弱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Hetero GNN 约 0.046</a:t>
            </a:r>
            <a:br/>
            <a:r>
              <a:t>说明不是越复杂越好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4343400"/>
            <a:ext cx="34747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解释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有用信息集中在局部证据块里，而不是深层传播。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第二个发现：疾病信息很强，但只能当“上界”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它有帮助，但不能和 clean 结果混在一起解释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320040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clean 设置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只看来源、组成、键、文献等结构证据。</a:t>
            </a:r>
            <a:br/>
            <a:r>
              <a:t>更像是在问：图谱本身有没有功能信号？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disease-aware 设置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加入疾病关联。</a:t>
            </a:r>
            <a:br/>
            <a:r>
              <a:t>效果更强，但疾病和功能高度相关。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71600"/>
            <a:ext cx="320040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解释边界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这不是作弊，但必须明确：它是辅助信息上界，不是 clean 主结论。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第三个发现：本体知识能帮助“长尾功能”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不是全面提升，而是帮助少见标签跨过排名门槛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7" name="Picture 6" descr="figure3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67512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325880"/>
            <a:ext cx="35661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长尾问题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有些功能样本太少，模型很难学。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743200"/>
            <a:ext cx="356616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本体的作用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把“成骨”放到更宽的再生/组织保护语义路径中。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251960"/>
            <a:ext cx="35661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稳定性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16 个随机种子下，tail Hits@3 稳定提高。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一个具体例子：APP90-2 的成骨功能被救回来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本体不是全局加分，而是窄路径上的证据转移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figure4_case_sub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13232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371600"/>
            <a:ext cx="329184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原始排序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成骨功能排第 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743200"/>
            <a:ext cx="329184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加入本体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提升到第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114800"/>
            <a:ext cx="329184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含义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不是所有样本都变好，但少见功能能被更合理地提示出来。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也有失败：图谱还缺更细的结构语言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失败样本告诉我们下一步该补什么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657600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CZGS-1 失败案例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即使有来源、组成、键、疾病和 DOI，antiinflammatory 仍没有排进前列。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25880"/>
            <a:ext cx="3063240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可能缺什么？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更细的结构基序</a:t>
            </a:r>
            <a:br/>
            <a:r>
              <a:t>更准确的本体层级</a:t>
            </a:r>
            <a:br/>
            <a:r>
              <a:t>更丰富的文献证据类型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25880"/>
            <a:ext cx="3383280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这很重要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负结果不是失败，而是告诉我们图谱下一版要补哪里。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这项工作真正贡献了什么？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不是一个万能模型，而是一套可复用的图谱与评测框架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0607040" cy="4069080"/>
          </a:xfrm>
          <a:prstGeom prst="roundRect">
            <a:avLst/>
          </a:prstGeom>
          <a:solidFill>
            <a:srgbClr val="FFFDF8"/>
          </a:solidFill>
          <a:ln>
            <a:solidFill>
              <a:srgbClr val="E8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64592" tIns="164592"/>
          <a:lstStyle/>
          <a:p>
            <a:pPr algn="ctr"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把 DoLPHiN 数据转成可查询、可追溯的多糖知识图谱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建立 masked poly-function retrieval 的评测任务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发现当前最强 clean 信号来自可解释关系特征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证明本体知识对部分长尾功能有稳定补益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明确指出当前 GNN 和图谱表示的短板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谁会用到这张图？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从数据库浏览到功能假设生成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0896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数据库使用者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快速查看某个多糖的来源、结构、功能和文献。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10896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实验研究者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优先筛选值得验证的功能假设。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417320"/>
            <a:ext cx="310896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算法研究者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测试图谱检索、长尾学习、本体注入方法。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总结：我们把多糖证据从“资料堆”变成“路线图”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下一步是补更细结构、更强本体、更完整公开资源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24612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已经完成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DoLPHiN → KG</a:t>
            </a:r>
            <a:br/>
            <a:r>
              <a:t>clean benchmark</a:t>
            </a:r>
            <a:br/>
            <a:r>
              <a:t>ontology tail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24612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主要结论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可解释检索很强</a:t>
            </a:r>
            <a:br/>
            <a:r>
              <a:t>GNN 当前不占优</a:t>
            </a:r>
            <a:br/>
            <a:r>
              <a:t>本体帮助长尾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24612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2F6F9F"/>
                </a:solidFill>
                <a:latin typeface="Microsoft YaHei"/>
              </a:defRPr>
            </a:pPr>
            <a:r>
              <a:t>下一步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公开图谱与代码</a:t>
            </a:r>
            <a:br/>
            <a:r>
              <a:t>补 motif-level 结构</a:t>
            </a:r>
            <a:br/>
            <a:r>
              <a:t>做更多生物验证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谢谢，欢迎交流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问题、建议和合作都很欢迎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645920"/>
            <a:ext cx="83210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3A6B35"/>
                </a:solidFill>
                <a:latin typeface="Microsoft YaHei"/>
              </a:defRPr>
            </a:pPr>
            <a:r>
              <a:t>核心 takeaway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多糖研究需要的不只是更多模型，也需要更好的证据地图。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886200"/>
            <a:ext cx="6492240" cy="1143000"/>
          </a:xfrm>
          <a:prstGeom prst="roundRect">
            <a:avLst/>
          </a:prstGeom>
          <a:solidFill>
            <a:srgbClr val="FFFDF8"/>
          </a:solidFill>
          <a:ln w="1397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>
              <a:defRPr sz="1700" b="1">
                <a:solidFill>
                  <a:srgbClr val="E07A5F"/>
                </a:solidFill>
                <a:latin typeface="Microsoft YaHei"/>
              </a:defRPr>
            </a:pPr>
            <a:r>
              <a:t>联系信息</a:t>
            </a:r>
          </a:p>
          <a:p>
            <a:pPr>
              <a:defRPr sz="1200">
                <a:solidFill>
                  <a:srgbClr val="1F2A24"/>
                </a:solidFill>
                <a:latin typeface="Microsoft YaHei"/>
              </a:defRPr>
            </a:pPr>
            <a:r>
              <a:t>作者 / 单位 / 邮箱：提交前替换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备份：如果有人问“为什么不用更复杂的 GNN？”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我们的回答：不是不用，而是当前图谱表示还不支持它发挥优势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24128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E8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64592" tIns="164592"/>
          <a:lstStyle/>
          <a:p>
            <a:pPr algn="ctr"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GNN 和 no-message ablation 表现接近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说明消息传递没有提供额外有效信息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可能原因：非多糖节点特征太弱、结构 motif 表达不足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未来方向：先增强图谱表示，再谈更强 GNN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备份：clean 与 disease-aware 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这是审稿人最可能问的问题之一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241280" cy="4206240"/>
          </a:xfrm>
          <a:prstGeom prst="roundRect">
            <a:avLst/>
          </a:prstGeom>
          <a:solidFill>
            <a:srgbClr val="FFFDF8"/>
          </a:solidFill>
          <a:ln>
            <a:solidFill>
              <a:srgbClr val="E8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64592" tIns="164592"/>
          <a:lstStyle/>
          <a:p>
            <a:pPr algn="ctr"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clean：不用 disease 信息，检验结构/来源/文献证据本身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disease-aware：允许疾病语义，作为辅助信息上界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两者不能混报，否则会高估结构—功能推断能力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我们已修复 clean poly_x 中的 disease-degree 泄漏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6459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A6B35"/>
                </a:solidFill>
                <a:latin typeface="Microsoft YaHei"/>
              </a:defRPr>
            </a:pPr>
            <a: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24"/>
                </a:solidFill>
                <a:latin typeface="Microsoft YaHei"/>
              </a:defRPr>
            </a:pPr>
            <a:r>
              <a:t>备份：下一版图谱最应该补什么？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C6F"/>
                </a:solidFill>
                <a:latin typeface="Microsoft YaHei"/>
              </a:defRPr>
            </a:pPr>
            <a:r>
              <a:t>让模型看到更接近生物机制的证据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C6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241280" cy="4206240"/>
          </a:xfrm>
          <a:prstGeom prst="roundRect">
            <a:avLst/>
          </a:prstGeom>
          <a:solidFill>
            <a:srgbClr val="FFFDF8"/>
          </a:solidFill>
          <a:ln>
            <a:solidFill>
              <a:srgbClr val="E8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64592" tIns="164592"/>
          <a:lstStyle/>
          <a:p>
            <a:pPr algn="ctr"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更细的糖链 motif / branching 表达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更标准的功能本体和疾病本体映射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文献证据类型：实验条件、剂量、模型体系</a:t>
            </a:r>
          </a:p>
          <a:p>
            <a:pPr>
              <a:spcAft>
                <a:spcPts val="900"/>
              </a:spcAft>
              <a:defRPr sz="1600">
                <a:solidFill>
                  <a:srgbClr val="1F2A24"/>
                </a:solidFill>
                <a:latin typeface="Microsoft YaHei"/>
              </a:defRPr>
            </a:pPr>
            <a:r>
              <a:t>更严格的 source-level / publication-level split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